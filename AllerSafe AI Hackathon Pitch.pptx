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062162"/>
            <a:ext cx="1160145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000" i="0" u="none">
                <a:solidFill>
                  <a:srgbClr val="F8FAFC"/>
                </a:solidFill>
                <a:latin typeface="Urbanist"/>
              </a:rPr>
              <a:t>AllerSafe </a:t>
            </a:r>
            <a:r>
              <a:rPr b="1" sz="6000" i="0" u="none">
                <a:solidFill>
                  <a:srgbClr val="38BDF8"/>
                </a:solidFill>
                <a:latin typeface="Urbanist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090862"/>
            <a:ext cx="11049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38BDF8"/>
                </a:solidFill>
                <a:latin typeface="Urbanist Medium"/>
              </a:rPr>
              <a:t>PREVENT PROTECT RESPOND COORDINATE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910012"/>
            <a:ext cx="110490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F8FAFC"/>
                </a:solidFill>
                <a:latin typeface="Urbanist"/>
              </a:rPr>
              <a:t>Presented by: </a:t>
            </a:r>
            <a:r>
              <a:rPr b="1" sz="1650" i="0" u="none">
                <a:solidFill>
                  <a:srgbClr val="38BDF8"/>
                </a:solidFill>
                <a:latin typeface="Urbanist"/>
              </a:rPr>
              <a:t>Team Gravity Coders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367212"/>
            <a:ext cx="1104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Innovators &amp;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907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1966912"/>
            <a:ext cx="500062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Urbanist"/>
              </a:rPr>
              <a:t>220M+ Global Sufferers</a:t>
            </a:r>
            <a:r>
              <a:rPr b="0" sz="1500" i="0" u="none">
                <a:solidFill>
                  <a:srgbClr val="94A3B8"/>
                </a:solidFill>
                <a:latin typeface="Urbanist"/>
              </a:rPr>
              <a:t> Over 220 to 250 million people worldwide suffer from food allergies according to the World Allergy Organization (WAO) and FAO.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348037"/>
            <a:ext cx="50006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Urbanist"/>
              </a:rPr>
              <a:t>The 3-Minute Window</a:t>
            </a:r>
            <a:r>
              <a:rPr b="0" sz="1500" i="0" u="none">
                <a:solidFill>
                  <a:srgbClr val="94A3B8"/>
                </a:solidFill>
                <a:latin typeface="Urbanist"/>
              </a:rPr>
              <a:t> Every 3 minutes, a severe allergic reaction rushes another patient to the ER (FARE data).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443412"/>
            <a:ext cx="500062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EF4444"/>
                </a:solidFill>
                <a:latin typeface="Urbanist"/>
              </a:rPr>
              <a:t>The Hidden Danger</a:t>
            </a:r>
            <a:r>
              <a:rPr b="0" sz="1500" i="0" u="none">
                <a:solidFill>
                  <a:srgbClr val="94A3B8"/>
                </a:solidFill>
                <a:latin typeface="Urbanist"/>
              </a:rPr>
              <a:t> Standard menus routinely hide ingredients, cross-contamination risks, and raw bases, exposing diners to fatal risks.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00250"/>
            <a:ext cx="5267325" cy="3790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09775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90900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86275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Urbanist"/>
              </a:rPr>
              <a:t>Market Urgency: The Life-Threatening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0750"/>
            <a:ext cx="3429000" cy="3409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190750"/>
            <a:ext cx="3429000" cy="3409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190750"/>
            <a:ext cx="3429000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181350"/>
            <a:ext cx="265033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Urbanist"/>
              </a:rPr>
              <a:t>OCR Menu Scanning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48075"/>
            <a:ext cx="27432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Instantly extracts text from physical menus with high precision, mapping every dish and ingredient description in real-time.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3181350"/>
            <a:ext cx="283035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Urbanist"/>
              </a:rPr>
              <a:t>AI Culinary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3648075"/>
            <a:ext cx="27432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Detects hidden bases, sauces, and cross-risks by understanding deep culinary structures and preparation methods.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3181350"/>
            <a:ext cx="288036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Urbanist"/>
              </a:rPr>
              <a:t>Contextual Translation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3971925"/>
            <a:ext cx="2743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Translates critical allergy warnings instantly to the kitchen staff's native languages to prevent miscommunication.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2562225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2562225"/>
            <a:ext cx="47625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Urbanist"/>
              </a:rPr>
              <a:t>Innovation Platform: AllerSafe Ecosystem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87667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968" y="4229100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Urbanist"/>
              </a:rPr>
              <a:t>1. Profile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648200"/>
            <a:ext cx="254124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User securely inputs critical medical details and specific allergy tolerances.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143125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Urbanist"/>
              </a:rPr>
              <a:t>2. Menu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2562225"/>
            <a:ext cx="254124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Computer vision converts physical menu images into digital text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229100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Urbanist"/>
              </a:rPr>
              <a:t>3. Risk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648200"/>
            <a:ext cx="254124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AI engine identifies hidden bases and suggests safe alternative paths.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2143125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Urbanist"/>
              </a:rPr>
              <a:t>4. SOS Fail-Safe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2562225"/>
            <a:ext cx="254124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Instant rescue links and digital cards alert staff and coordinate response.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820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3740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99659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35579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Urbanist"/>
              </a:rPr>
              <a:t>Architecture: End-to-End Safety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7362"/>
            <a:ext cx="5286375" cy="4276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57362"/>
            <a:ext cx="5286375" cy="4276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176462"/>
            <a:ext cx="4730591" cy="32385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F4444"/>
                </a:solidFill>
                <a:latin typeface="Urbanist"/>
              </a:rPr>
              <a:t>Legacy Keyword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176462"/>
            <a:ext cx="4730591" cy="323850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Urbanist"/>
              </a:rPr>
              <a:t>AllerSafe AI Platform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0" y="2205037"/>
            <a:ext cx="2095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7775" y="2643187"/>
            <a:ext cx="42195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Urbanist"/>
              </a:rPr>
              <a:t>Static Matching:</a:t>
            </a:r>
            <a:r>
              <a:rPr b="0" sz="1500" i="0" u="none">
                <a:solidFill>
                  <a:srgbClr val="94A3B8"/>
                </a:solidFill>
                <a:latin typeface="Urbanist"/>
              </a:rPr>
              <a:t> Misses complex ingredient relationships and deep sub-components.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452812"/>
            <a:ext cx="42195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Urbanist"/>
              </a:rPr>
              <a:t>Disconnected:</a:t>
            </a:r>
            <a:r>
              <a:rPr b="0" sz="1500" i="0" u="none">
                <a:solidFill>
                  <a:srgbClr val="94A3B8"/>
                </a:solidFill>
                <a:latin typeface="Urbanist"/>
              </a:rPr>
              <a:t> Completely isolated from emergency response metrics when an issue occurs.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4548187"/>
            <a:ext cx="42195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Urbanist"/>
              </a:rPr>
              <a:t>Language Barriers:</a:t>
            </a:r>
            <a:r>
              <a:rPr b="0" sz="1500" i="0" u="none">
                <a:solidFill>
                  <a:srgbClr val="94A3B8"/>
                </a:solidFill>
                <a:latin typeface="Urbanist"/>
              </a:rPr>
              <a:t> Simple hard translations fail to express precise medical urgencies.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700" y="2205037"/>
            <a:ext cx="238125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10400" y="2643187"/>
            <a:ext cx="42195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Urbanist"/>
              </a:rPr>
              <a:t>LLM Intelligence:</a:t>
            </a:r>
            <a:r>
              <a:rPr b="0" sz="1500" i="0" u="none">
                <a:solidFill>
                  <a:srgbClr val="94A3B8"/>
                </a:solidFill>
                <a:latin typeface="Urbanist"/>
              </a:rPr>
              <a:t> Comprehends hidden base preparation layers and regional culinary structures.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3738562"/>
            <a:ext cx="42195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Urbanist"/>
              </a:rPr>
              <a:t>Smart Integration:</a:t>
            </a:r>
            <a:r>
              <a:rPr b="0" sz="1500" i="0" u="none">
                <a:solidFill>
                  <a:srgbClr val="94A3B8"/>
                </a:solidFill>
                <a:latin typeface="Urbanist"/>
              </a:rPr>
              <a:t> Automatically synchronizes continuous live event tracking dashboards.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4548187"/>
            <a:ext cx="42195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8FAFC"/>
                </a:solidFill>
                <a:latin typeface="Urbanist"/>
              </a:rPr>
              <a:t>Dynamic Translation:</a:t>
            </a:r>
            <a:r>
              <a:rPr b="0" sz="1500" i="0" u="none">
                <a:solidFill>
                  <a:srgbClr val="94A3B8"/>
                </a:solidFill>
                <a:latin typeface="Urbanist"/>
              </a:rPr>
              <a:t> Generates precise localized statements explicitly designed for professional kitchen staff.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Urbanist"/>
              </a:rPr>
              <a:t>Strategic Advantage: The Innovation Leap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1700"/>
            <a:ext cx="342900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171700"/>
            <a:ext cx="3429000" cy="2857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171700"/>
            <a:ext cx="3429000" cy="285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219700"/>
            <a:ext cx="342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8FAFC"/>
                </a:solidFill>
                <a:latin typeface="Urbanist Medium"/>
              </a:rPr>
              <a:t>Medical Profile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0" y="5219700"/>
            <a:ext cx="342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8FAFC"/>
                </a:solidFill>
                <a:latin typeface="Urbanist Medium"/>
              </a:rPr>
              <a:t>Intelligent Menu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5219700"/>
            <a:ext cx="342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F8FAFC"/>
                </a:solidFill>
                <a:latin typeface="Urbanist Medium"/>
              </a:rPr>
              <a:t>Multilingual Alert Cards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266950"/>
            <a:ext cx="3238500" cy="2667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0" y="2266950"/>
            <a:ext cx="3238500" cy="2667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0" y="2266950"/>
            <a:ext cx="3238500" cy="2667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Urbanist"/>
              </a:rPr>
              <a:t>Functional Live Prototype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2675"/>
            <a:ext cx="3429000" cy="3086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352675"/>
            <a:ext cx="3429000" cy="3086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352675"/>
            <a:ext cx="342900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43275"/>
            <a:ext cx="216027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Urbanist"/>
              </a:rPr>
              <a:t>Saves Vital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2743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Drastically curtails severe food allergy incidents, eliminating common human error vectors in food preparation.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3343275"/>
            <a:ext cx="211026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Urbanist"/>
              </a:rPr>
              <a:t>Empowers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3810000"/>
            <a:ext cx="2743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Restores dining independence, confidence, and safety profiles for domestic users and international travelers alike.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3343275"/>
            <a:ext cx="272034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8FAFC"/>
                </a:solidFill>
                <a:latin typeface="Urbanist"/>
              </a:rPr>
              <a:t>Supports Restaurants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3810000"/>
            <a:ext cx="2743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Mitigates liability overhead, providing kitchens clear, actionable cross-contamination avoidance paths.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724150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400" y="272415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4400" y="2724150"/>
            <a:ext cx="333375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Urbanist"/>
              </a:rPr>
              <a:t>Societal Value &amp; Strategic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87667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7968" y="4229100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Urbanist"/>
              </a:rPr>
              <a:t>Phase 1: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648200"/>
            <a:ext cx="254124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Deep Restaurant POS API &amp; menu database loops.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143125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Urbanist"/>
              </a:rPr>
              <a:t>Phase 2: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2562225"/>
            <a:ext cx="254124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Verified emergency community medical volunteer grid.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229100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Urbanist"/>
              </a:rPr>
              <a:t>Phase 3: Resiliency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648200"/>
            <a:ext cx="254124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Real-time active alert pipelines via satellite backup.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2143125"/>
            <a:ext cx="266830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Urbanist"/>
              </a:rPr>
              <a:t>Phase 4: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2562225"/>
            <a:ext cx="254124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Urbanist"/>
              </a:rPr>
              <a:t>Direct institutional B2B partnerships with schools &amp; airlines.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820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63740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99659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35579" y="3781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Urbanist"/>
              </a:rPr>
              <a:t>Future Horizons: Scale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6425" y="2171700"/>
            <a:ext cx="8439150" cy="185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b="1" sz="3750" i="0" u="none">
                <a:solidFill>
                  <a:srgbClr val="F8FAFC"/>
                </a:solidFill>
                <a:latin typeface="Urbanist"/>
              </a:rPr>
              <a:t>AllerSafe doesn't just inform users—it protects them in a world that isn't labeled for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6362" y="4410075"/>
            <a:ext cx="18192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38BDF8"/>
                </a:solidFill>
                <a:latin typeface="Urbanist Medium"/>
              </a:rPr>
              <a:t>— Gravity Coders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9675" y="2552700"/>
            <a:ext cx="542032" cy="1314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1" sz="9000" i="0" u="none">
                <a:solidFill>
                  <a:srgbClr val="334155"/>
                </a:solidFill>
                <a:latin typeface="sans-serif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40295" y="4124325"/>
            <a:ext cx="542032" cy="1314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1" sz="9000" i="0" u="none">
                <a:solidFill>
                  <a:srgbClr val="334155"/>
                </a:solidFill>
                <a:latin typeface="sans-serif"/>
              </a:rPr>
              <a:t>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43150"/>
            <a:ext cx="11601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8FAFC"/>
                </a:solidFill>
                <a:latin typeface="Urbanist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48050"/>
            <a:ext cx="1104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2400" i="0" u="none">
                <a:solidFill>
                  <a:srgbClr val="94A3B8"/>
                </a:solidFill>
                <a:latin typeface="Urbanist"/>
              </a:rPr>
              <a:t>Open for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86250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Urbanist"/>
              </a:rPr>
              <a:t>Team Gravity Coders | Hackathon Pitch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357437"/>
            <a:ext cx="91344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128962"/>
            <a:ext cx="91344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00487"/>
            <a:ext cx="913447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19437"/>
            <a:ext cx="9134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119437"/>
            <a:ext cx="9134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890962"/>
            <a:ext cx="9134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890962"/>
            <a:ext cx="9134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62487"/>
            <a:ext cx="9134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62487"/>
            <a:ext cx="913447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031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507456"/>
            <a:ext cx="80391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Urbanist"/>
              </a:rPr>
              <a:t>https://cdn.babyseo.ai/images/foodshot.ai/restaurant-menu-board-design/restaurant-menu-board-design-hero.webp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740818"/>
            <a:ext cx="8039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Urbanis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"/>
              </a:rPr>
              <a:t>foodshot.ai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7183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278981"/>
            <a:ext cx="80391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Urbanist"/>
              </a:rPr>
              <a:t>https://images.pixeden.com/images/minimalist-tablet-display-mockup-woman-in-silhouette_full_preview_retina.jpg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512343"/>
            <a:ext cx="8039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Urbanis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"/>
              </a:rPr>
              <a:t>www.pixeden.com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43362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050506"/>
            <a:ext cx="80391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Urbanist"/>
              </a:rPr>
              <a:t>https://www.lightxeditor.com/blog/wp-content/uploads/2026/07/ChatGPT-Image-Jul-2-2026-04_04_14-PM.webp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283868"/>
            <a:ext cx="8039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Urbanis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"/>
              </a:rPr>
              <a:t>www.lightxeditor.com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14887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822031"/>
            <a:ext cx="80391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Urbanist"/>
              </a:rPr>
              <a:t>https://cdn.dribbble.com/userupload/47870826/file/still-cd932cfc2f89c84585d9bf9b5f39b8e1.png?format=webp&amp;resize=400x300&amp;vertical=center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055393"/>
            <a:ext cx="80391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Urbanis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"/>
              </a:rPr>
              <a:t>dribbble.com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Urbanis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